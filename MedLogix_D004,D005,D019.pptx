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94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219B7-A3BC-2ED3-7DC2-EE6B3C00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02F41-3A85-9E8D-1543-3758B6558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DCBEC-3F8D-36A4-68C3-732DEC9B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F0CDC-9CA3-43D4-094F-EBB71E4E9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m.nih.gov/research/umls/rxnor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12E50"/>
          </a:solidFill>
          <a:ln w="12700">
            <a:solidFill>
              <a:srgbClr val="112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D3D5C"/>
          </a:solidFill>
          <a:ln w="1270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4480560"/>
            <a:ext cx="894283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4572000"/>
            <a:ext cx="8942832" cy="571500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MedLogix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19456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Pharmacological Safety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Medication Management Agent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114800" cy="1051560"/>
          </a:xfrm>
          <a:prstGeom prst="rect">
            <a:avLst/>
          </a:prstGeom>
          <a:solidFill>
            <a:srgbClr val="071A30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Sharma (D005)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r>
              <a:rPr lang="en-US" sz="1300" dirty="0" err="1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Siraskar</a:t>
            </a:r>
            <a:r>
              <a:rPr lang="en-US" sz="13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(D004)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Sinha (D019)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" y="4590288"/>
            <a:ext cx="8942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of Polypharmacy &amp; AI Hallucinations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606040" cy="164592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72" y="1645920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Risk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" y="274320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taking 4+ medications simultaneously face massive risk of Adverse Drug Events (ADEs) and potentially fatal drug interactions.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127248" y="1325880"/>
            <a:ext cx="2606040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127248" y="13258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</a:t>
            </a:r>
            <a:endParaRPr lang="en-US" sz="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1645920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64408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291840" y="274320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receive patient medication histories as unstructured, messy conversations — not clean, actionable lists ready for review.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34456" y="132588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934456" y="1325880"/>
            <a:ext cx="260604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934456" y="132588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LIMITATION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588" y="1645920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71616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Gap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99048" y="274320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confidently hallucinate fake drugs or guess interactions without consulting factual data — dangerously unsuitable for healthcare.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Safety &amp; Agentic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2296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417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MedLogix?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8992" y="17830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AI Agent that extracts messy medication histories and cross-references them against factual clinical datasets — combining RAG, Fine-Tuning, and RLHF.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154680"/>
            <a:ext cx="4160520" cy="1691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5760" y="3154680"/>
            <a:ext cx="82296" cy="1691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91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3246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78992" y="361188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guess. MedLogix is programmed to halt text generation, query our offline CSV interaction data and ChromaDB knowledge base, and output only factual, verified clinical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2040" y="132588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892040" y="1325880"/>
            <a:ext cx="41605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892040" y="1325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CLINICAL OUTPUT TEMPLATE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74920" y="1874520"/>
            <a:ext cx="3794760" cy="475488"/>
          </a:xfrm>
          <a:prstGeom prst="rect">
            <a:avLst/>
          </a:prstGeom>
          <a:solidFill>
            <a:srgbClr val="F5F9FC"/>
          </a:solidFill>
          <a:ln w="635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166360" y="18928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Medication List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66360" y="20756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· Aspirin · Simvastatin · Clarithromycin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74920" y="2441448"/>
            <a:ext cx="3794760" cy="475488"/>
          </a:xfrm>
          <a:prstGeom prst="rect">
            <a:avLst/>
          </a:prstGeom>
          <a:solidFill>
            <a:srgbClr val="E8F7F7"/>
          </a:solidFill>
          <a:ln w="635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166360" y="24597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Severity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66360" y="2642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MAJOR  ·  MODERATE  ·  MINOR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74920" y="3008376"/>
            <a:ext cx="3794760" cy="475488"/>
          </a:xfrm>
          <a:prstGeom prst="rect">
            <a:avLst/>
          </a:prstGeom>
          <a:solidFill>
            <a:srgbClr val="F5F9FC"/>
          </a:solidFill>
          <a:ln w="635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166360" y="3026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Risk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166360" y="32095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Risk  |  Rhabdomyolysis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74920" y="3575304"/>
            <a:ext cx="3794760" cy="475488"/>
          </a:xfrm>
          <a:prstGeom prst="rect">
            <a:avLst/>
          </a:prstGeom>
          <a:solidFill>
            <a:srgbClr val="E8F7F7"/>
          </a:solidFill>
          <a:ln w="635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5166360" y="35935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Alert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166360" y="37764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 contraindicated — consult physician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74920" y="4142232"/>
            <a:ext cx="3794760" cy="475488"/>
          </a:xfrm>
          <a:prstGeom prst="rect">
            <a:avLst/>
          </a:prstGeom>
          <a:solidFill>
            <a:srgbClr val="F5F9FC"/>
          </a:solidFill>
          <a:ln w="635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166360" y="41605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166360" y="4343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substitute for professional medical advice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5-Phase Engineering Approach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" y="1965960"/>
            <a:ext cx="960120" cy="960120"/>
          </a:xfrm>
          <a:prstGeom prst="ellipse">
            <a:avLst/>
          </a:prstGeom>
          <a:solidFill>
            <a:srgbClr val="0A2342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441448"/>
            <a:ext cx="27432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25880" y="1298448"/>
            <a:ext cx="12344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25880" y="1298448"/>
            <a:ext cx="12344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25880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162763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2121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71600" y="2450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ChromaDB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0" y="2029968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724912" y="1298448"/>
            <a:ext cx="1234440" cy="1463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724912" y="1298448"/>
            <a:ext cx="12344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724912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162763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770632" y="2121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770632" y="2450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Training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959352" y="2029968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4123944" y="1298448"/>
            <a:ext cx="1234440" cy="1463040"/>
          </a:xfrm>
          <a:prstGeom prst="rect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4123944" y="1298448"/>
            <a:ext cx="12344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4123944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1627632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169664" y="2121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Safety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169664" y="2450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Alignment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358384" y="2029968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5522976" y="1298448"/>
            <a:ext cx="1234440" cy="146304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5522976" y="1298448"/>
            <a:ext cx="12344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5522976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028" y="1627632"/>
            <a:ext cx="402336" cy="40233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68696" y="2121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568696" y="2450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ReAct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757416" y="2029968"/>
            <a:ext cx="16459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6922008" y="1298448"/>
            <a:ext cx="123444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6922008" y="1298448"/>
            <a:ext cx="12344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6922008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8060" y="1627632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67728" y="21214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967728" y="2450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9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UI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156448" y="2029968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8339328" y="1627632"/>
            <a:ext cx="745889" cy="8869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600" dirty="0"/>
          </a:p>
        </p:txBody>
      </p:sp>
      <p:sp>
        <p:nvSpPr>
          <p:cNvPr id="45" name="Text 38"/>
          <p:cNvSpPr/>
          <p:nvPr/>
        </p:nvSpPr>
        <p:spPr>
          <a:xfrm>
            <a:off x="8255073" y="155448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325880" y="29260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via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2724912" y="29260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drug list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123944" y="29260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Safe-hedging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rewards; hallucin-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 penalties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522976" y="29260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tools,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datasets,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6922008" y="29260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UI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ReAct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trace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 Training &amp;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73152" cy="17190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41832" y="1700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 ·  8B Parameters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842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fast reasoning and tool usage. Chosen for its strong instruction-following capabilities and open-source flexibility.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98448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09160" y="1298448"/>
            <a:ext cx="73152" cy="17190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8132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0952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Store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30952" y="1700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·  ChromaDB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40" y="19842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stored locally in ChromaDB for lightning-fast semantic search across clinical guidelines at inference time.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31546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20040" y="3154680"/>
            <a:ext cx="73152" cy="1719072"/>
          </a:xfrm>
          <a:prstGeom prst="rect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375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83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via LoRA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41832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Rank=16  ·  Alpha=32  ·  ~0.5% Params Tuned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3840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freezes the base model and tunes only essential weights — drastically saving VRAM while preventing catastrophic forgetting.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3154680"/>
            <a:ext cx="4206240" cy="1719072"/>
          </a:xfrm>
          <a:prstGeom prst="rect">
            <a:avLst/>
          </a:prstGeom>
          <a:solidFill>
            <a:srgbClr val="E8F7F7"/>
          </a:solidFill>
          <a:ln w="12700">
            <a:solidFill>
              <a:srgbClr val="B2D8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709160" y="3154680"/>
            <a:ext cx="73152" cy="17190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30952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Alignment via Rewards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30952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(+) &amp; Penalties (−)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92040" y="3840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Rewards: </a:t>
            </a: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hedging ("consult a physician", "verify with database")
</a:t>
            </a:r>
            <a:r>
              <a:rPr lang="en-US" sz="1050" b="1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Penalties: </a:t>
            </a: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drug names (vs. FDA whitelist) or definitive diagnosis claims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61628"/>
          </a:solidFill>
          <a:ln w="12700">
            <a:solidFill>
              <a:srgbClr val="06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120640" y="0"/>
            <a:ext cx="457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an LLM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 "Agent"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Llama-3 from a simple chatbot to 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(Reason + Act) Agent using LangChain.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91440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81328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multiple drugs in the 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2679192"/>
            <a:ext cx="0" cy="21945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898648"/>
            <a:ext cx="914400" cy="438912"/>
          </a:xfrm>
          <a:prstGeom prst="rect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81328" y="2944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Python tool to check interactions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3337560"/>
            <a:ext cx="0" cy="21945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91440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5570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81328" y="3602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factual data from CSV 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3995928"/>
            <a:ext cx="0" cy="21945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4215384"/>
            <a:ext cx="914400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215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81328" y="42611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structured clinical safety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Combinatorics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685800"/>
            <a:ext cx="3611880" cy="2148840"/>
          </a:xfrm>
          <a:prstGeom prst="rect">
            <a:avLst/>
          </a:prstGeom>
          <a:solidFill>
            <a:srgbClr val="041020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568694" y="441198"/>
            <a:ext cx="2770633" cy="2233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00" dirty="0">
                <a:solidFill>
                  <a:schemeClr val="bg2"/>
                </a:solidFill>
              </a:rPr>
              <a:t> </a:t>
            </a:r>
            <a:r>
              <a:rPr lang="en-US" sz="900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check_interactions</a:t>
            </a: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(drugs):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list(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combinations(drugs, 2))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(d1, d2) in pairs: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query_csv(d1, d2)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result['severity'] == 'MAJOR':</a:t>
            </a:r>
            <a:endParaRPr lang="en-US" sz="900" dirty="0">
              <a:solidFill>
                <a:schemeClr val="bg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flag_alert(result)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57800" y="2971800"/>
            <a:ext cx="361188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57800" y="3063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(N−1) / 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drug pair combinations checked in milliseconds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4114800"/>
            <a:ext cx="3611880" cy="822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49240" y="4151376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</a:t>
            </a:r>
            <a:r>
              <a:rPr lang="en-US" sz="95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 increases bleeding risk
</a:t>
            </a: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SEVERE: </a:t>
            </a:r>
            <a:r>
              <a:rPr lang="en-US" sz="950" dirty="0">
                <a:solidFill>
                  <a:srgbClr val="A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Rhabdomyolysis risk with Simvastatin + Clarithromycin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Robustness in Open-Source AI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685800" cy="11155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55064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27632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Prevention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27632" y="17282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LLMs often hallucinate tool names or fabricate fake observations during the ReAct loop, causing infinite recursion.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20640" y="1463040"/>
            <a:ext cx="0" cy="786384"/>
          </a:xfrm>
          <a:prstGeom prst="line">
            <a:avLst/>
          </a:prstGeom>
          <a:noFill/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257800" y="1408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57800" y="16642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a custom Anti-Hallucination Parser to instantly intercept and delete fake outputs before they propagate.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2551176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20040" y="2551176"/>
            <a:ext cx="685800" cy="11155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551176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907792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27632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 Fatigue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627632" y="29809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When checking 4+ drugs simultaneously, the AI frequently forgot or missed interactions — cognitive overload.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120640" y="2715768"/>
            <a:ext cx="0" cy="786384"/>
          </a:xfrm>
          <a:prstGeom prst="line">
            <a:avLst/>
          </a:prstGeom>
          <a:noFill/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257800" y="2660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57800" y="29169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Shifted all mathematical combination logic to Python (itertools), reducing AI workload to a single hyper-efficient tool call.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20040" y="3803904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320040" y="3803904"/>
            <a:ext cx="685800" cy="11155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320040" y="3803904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60520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27632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Constraints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627632" y="423367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Complex library compatibility issues (Apex, Flash Attention) and tokenizer state corruptions blocked stable inference.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120640" y="3968496"/>
            <a:ext cx="0" cy="786384"/>
          </a:xfrm>
          <a:prstGeom prst="line">
            <a:avLst/>
          </a:prstGeom>
          <a:noFill/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5257800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57800" y="41696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Implemented system-level monkeypatches to ensure stable, high-performance inference on available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the Agent to the Limit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749808"/>
          </a:xfrm>
          <a:prstGeom prst="rect">
            <a:avLst/>
          </a:prstGeom>
          <a:solidFill>
            <a:srgbClr val="0A2342"/>
          </a:solidFill>
          <a:ln w="254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THE "DOUBLE COLLISION" TEST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18745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Simvastatin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Cholesterol-lowering statin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2212848"/>
            <a:ext cx="1874520" cy="914400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22860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 / Blood thinner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81144" y="2212848"/>
            <a:ext cx="1874520" cy="914400"/>
          </a:xfrm>
          <a:prstGeom prst="rect">
            <a:avLst/>
          </a:prstGeom>
          <a:solidFill>
            <a:srgbClr val="0A6040"/>
          </a:solidFill>
          <a:ln w="12700">
            <a:solidFill>
              <a:srgbClr val="0A6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81144" y="22860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Clarithromycin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2584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Macrolide antibiotic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2212848"/>
            <a:ext cx="1874520" cy="914400"/>
          </a:xfrm>
          <a:prstGeom prst="rect">
            <a:avLst/>
          </a:prstGeom>
          <a:solidFill>
            <a:srgbClr val="7B4D00"/>
          </a:solidFill>
          <a:ln w="12700">
            <a:solidFill>
              <a:srgbClr val="7B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11696" y="22860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03136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 / Antiplatelet agent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2186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6 Combinations Checked in Milliseconds 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069080" cy="1234440"/>
          </a:xfrm>
          <a:prstGeom prst="rect">
            <a:avLst/>
          </a:prstGeom>
          <a:solidFill>
            <a:srgbClr val="FFF3F3"/>
          </a:solidFill>
          <a:ln w="25400">
            <a:solidFill>
              <a:srgbClr val="D930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4069080" cy="310896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65760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MAJOR: BLEEDING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+ Aspirin: Concurrent use significantly increases risk of severe or life-threatening bleeding. Avoid combination unless closely monitored.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069080" cy="1234440"/>
          </a:xfrm>
          <a:prstGeom prst="rect">
            <a:avLst/>
          </a:prstGeom>
          <a:solidFill>
            <a:srgbClr val="FFFAF0"/>
          </a:solidFill>
          <a:ln w="254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4069080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365760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SEVERE: RHABDOMYOLYSIS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Simvastatin + Clarithromycin: CYP3A4 inhibition raises statin plasma levels significantly, increasing risk of severe muscle breakdown.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5029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029200" cy="347472"/>
          </a:xfrm>
          <a:prstGeom prst="rect">
            <a:avLst/>
          </a:prstGeom>
          <a:solidFill>
            <a:srgbClr val="E8EDF0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●  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MedLogix — Clinical Dashboard  |  </a:t>
            </a:r>
            <a:r>
              <a:rPr lang="en-US" sz="950" dirty="0" err="1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1773936"/>
            <a:ext cx="4700016" cy="256032"/>
          </a:xfrm>
          <a:prstGeom prst="rect">
            <a:avLst/>
          </a:prstGeom>
          <a:solidFill>
            <a:srgbClr val="F5F9FC"/>
          </a:solidFill>
          <a:ln w="12700">
            <a:solidFill>
              <a:srgbClr val="D0E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1208" y="1792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Medications: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048256"/>
            <a:ext cx="4700016" cy="594360"/>
          </a:xfrm>
          <a:prstGeom prst="rect">
            <a:avLst/>
          </a:prstGeom>
          <a:solidFill>
            <a:srgbClr val="F5F9FC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6072" y="212140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is on Warfarin 5mg OD, Aspirin 75mg, Simvastatin 40mg and Clarithromycin 500mg for 7 days...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2715768"/>
            <a:ext cx="120700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77640" y="2715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3108960"/>
            <a:ext cx="4700016" cy="1143000"/>
          </a:xfrm>
          <a:prstGeom prst="rect">
            <a:avLst/>
          </a:prstGeom>
          <a:solidFill>
            <a:srgbClr val="FFF8F8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1208" y="3145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CLINICAL ALERT GENERATED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" y="34198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Warfarin + Aspirin → Bleeding Risk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SEVERE: Simvastatin + Clarithromycin → Rhabdomyolysis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Disclaimer: Not a substitute for medical advice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4315968"/>
            <a:ext cx="4700016" cy="347472"/>
          </a:xfrm>
          <a:prstGeom prst="rect">
            <a:avLst/>
          </a:prstGeom>
          <a:solidFill>
            <a:srgbClr val="E8F7F7"/>
          </a:solidFill>
          <a:ln w="12700">
            <a:solidFill>
              <a:srgbClr val="B0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" y="4352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AI Thought Process (ReAct Loop)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1298448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472184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90488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Web UI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90488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Gradio for instant, no-install doctor access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32120" y="2176272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2350008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190488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190488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reveals full ReAct reasoning trace &amp; queried datasets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532120" y="3054096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3227832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190488" y="3145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Safeguards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190488" y="3419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disclaimers hardcoded into every single output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532120" y="3931920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410565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190488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Focus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19048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designed around physician workflow and trust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MedLogix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01752" y="1325880"/>
            <a:ext cx="263347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01752" y="1325880"/>
            <a:ext cx="2633472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2423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Integration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4632" y="2862072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offline CSV datasets with live API calls to the FDA Drug Interaction Database and National Library of Medicine (RxNav) for real-time, always-current data.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" y="4160520"/>
            <a:ext cx="2267712" cy="438912"/>
          </a:xfrm>
          <a:prstGeom prst="rect">
            <a:avLst/>
          </a:prstGeom>
          <a:solidFill>
            <a:srgbClr val="F5F9FC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2920" y="41788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+ RxNav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36192" y="417880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54680" y="1325880"/>
            <a:ext cx="263347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154680" y="1325880"/>
            <a:ext cx="263347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154680" y="132588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828800"/>
            <a:ext cx="493776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91840" y="2423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337560" y="2862072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MedLogix directly into hospital systems (Epic, Cerner) so the agent can automatically read patient charts, eliminating manual data entry by clinical staff.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37560" y="4160520"/>
            <a:ext cx="2267712" cy="438912"/>
          </a:xfrm>
          <a:prstGeom prst="rect">
            <a:avLst/>
          </a:prstGeom>
          <a:solidFill>
            <a:srgbClr val="F5F9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3355848" y="41788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+ Cerner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389120" y="417880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EHR Systems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07608" y="1325880"/>
            <a:ext cx="263347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007608" y="1325880"/>
            <a:ext cx="2633472" cy="384048"/>
          </a:xfrm>
          <a:prstGeom prst="rect">
            <a:avLst/>
          </a:prstGeom>
          <a:solidFill>
            <a:srgbClr val="0A6040"/>
          </a:solidFill>
          <a:ln w="12700">
            <a:solidFill>
              <a:srgbClr val="0A6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007608" y="132588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1828800"/>
            <a:ext cx="493776" cy="4937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44768" y="2423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&amp; Comorbidity Checking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190488" y="2862072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tool suite to cross-reference prescriptions against a patient's known allergies, comorbidities, renal/hepatic function indicators, and dosage history.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90488" y="4160520"/>
            <a:ext cx="2267712" cy="438912"/>
          </a:xfrm>
          <a:prstGeom prst="rect">
            <a:avLst/>
          </a:prstGeom>
          <a:solidFill>
            <a:srgbClr val="F5F9FC"/>
          </a:solidFill>
          <a:ln w="12700">
            <a:solidFill>
              <a:srgbClr val="0A6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6208776" y="41788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242048" y="417880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0D3D5C"/>
          </a:solidFill>
          <a:ln w="1270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840480" cy="3840480"/>
          </a:xfrm>
          <a:prstGeom prst="ellipse">
            <a:avLst/>
          </a:prstGeom>
          <a:solidFill>
            <a:srgbClr val="0D3D5C"/>
          </a:solidFill>
          <a:ln w="1270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5661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MedLogix  ·  Pharmacological Safety AI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EA522-F439-6A43-AA53-38BAB1210CC7}"/>
              </a:ext>
            </a:extLst>
          </p:cNvPr>
          <p:cNvSpPr txBox="1"/>
          <p:nvPr/>
        </p:nvSpPr>
        <p:spPr>
          <a:xfrm>
            <a:off x="48332" y="295847"/>
            <a:ext cx="2015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References: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80B0C-29C3-08A6-688D-B0C36F031081}"/>
              </a:ext>
            </a:extLst>
          </p:cNvPr>
          <p:cNvSpPr txBox="1"/>
          <p:nvPr/>
        </p:nvSpPr>
        <p:spPr>
          <a:xfrm>
            <a:off x="535866" y="1115318"/>
            <a:ext cx="65964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U.S. Food &amp; Drug Administration. FDA Drug Interaction Database &amp; Drug Label Data. https://www.fda.gov/drugsNelson, S.J. et al. </a:t>
            </a:r>
            <a:r>
              <a:rPr lang="en-IN" dirty="0" err="1">
                <a:solidFill>
                  <a:schemeClr val="bg1"/>
                </a:solidFill>
              </a:rPr>
              <a:t>RxNorm</a:t>
            </a:r>
            <a:r>
              <a:rPr lang="en-IN" dirty="0">
                <a:solidFill>
                  <a:schemeClr val="bg1"/>
                </a:solidFill>
              </a:rPr>
              <a:t>: A normalized nomenclature for clinical drugs.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AMIA Annu Symp Proc. 2011. National Library of Medicine. </a:t>
            </a:r>
            <a:r>
              <a:rPr lang="en-IN" dirty="0">
                <a:solidFill>
                  <a:schemeClr val="bg1"/>
                </a:solidFill>
                <a:hlinkClick r:id="rId3"/>
              </a:rPr>
              <a:t>https://www.nlm.nih.gov/research/umls/rxnorm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World Health Organization. WHO Model List of Essential Medicines &amp; ATC/DDD Index for Drug Classification.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https://www.who.int/tools/atc-ddd-toolkit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DDCD6-C69C-08AE-E1D4-37B41C99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92AD51-ED5C-7362-E73D-1604172E4F9C}"/>
              </a:ext>
            </a:extLst>
          </p:cNvPr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0D3D5C"/>
          </a:solidFill>
          <a:ln w="1270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C7405F-A7F5-A974-2731-EFED490B0FF7}"/>
              </a:ext>
            </a:extLst>
          </p:cNvPr>
          <p:cNvSpPr/>
          <p:nvPr/>
        </p:nvSpPr>
        <p:spPr>
          <a:xfrm>
            <a:off x="7132320" y="-1371600"/>
            <a:ext cx="3840480" cy="3840480"/>
          </a:xfrm>
          <a:prstGeom prst="ellipse">
            <a:avLst/>
          </a:prstGeom>
          <a:solidFill>
            <a:srgbClr val="0D3D5C"/>
          </a:solidFill>
          <a:ln w="1270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7C51DAC-3FA8-4325-B982-07FCCC26489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41EB27-6AE1-96D6-D3E0-4521570BAC89}"/>
              </a:ext>
            </a:extLst>
          </p:cNvPr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5E8B34-4B73-A166-33DD-A614E63A154F}"/>
              </a:ext>
            </a:extLst>
          </p:cNvPr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7A118A-34E5-B432-6272-CB4258746683}"/>
              </a:ext>
            </a:extLst>
          </p:cNvPr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E71282-A07B-A704-4CB5-E31FED3AB9B2}"/>
              </a:ext>
            </a:extLst>
          </p:cNvPr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MedLogix  ·  AI-Powered Pharmacological Safety Agent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31564F-39BD-6007-5C72-6FC113CC2589}"/>
              </a:ext>
            </a:extLst>
          </p:cNvPr>
          <p:cNvSpPr/>
          <p:nvPr/>
        </p:nvSpPr>
        <p:spPr>
          <a:xfrm>
            <a:off x="2286000" y="35661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2D9E13-6863-7427-D9C0-F6DA4B362AB4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MedLogix  ·  Pharmacological Safety AI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259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1148</Words>
  <Application>Microsoft Office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MedLogix</dc:title>
  <dc:subject>PptxGenJS Presentation</dc:subject>
  <dc:creator>PptxGenJS</dc:creator>
  <cp:lastModifiedBy>ADITYA SHARMA - 70272500018</cp:lastModifiedBy>
  <cp:revision>5</cp:revision>
  <dcterms:created xsi:type="dcterms:W3CDTF">2026-04-12T18:12:35Z</dcterms:created>
  <dcterms:modified xsi:type="dcterms:W3CDTF">2026-04-13T04:43:16Z</dcterms:modified>
</cp:coreProperties>
</file>